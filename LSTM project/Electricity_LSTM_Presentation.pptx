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Consumption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  <c:pt idx="7">
                    <c:v>80</c:v>
                  </c:pt>
                  <c:pt idx="8">
                    <c:v>90</c:v>
                  </c:pt>
                  <c:pt idx="9">
                    <c:v>100</c:v>
                  </c:pt>
                  <c:pt idx="10">
                    <c:v>110</c:v>
                  </c:pt>
                  <c:pt idx="11">
                    <c:v>120</c:v>
                  </c:pt>
                  <c:pt idx="12">
                    <c:v>130</c:v>
                  </c:pt>
                  <c:pt idx="13">
                    <c:v>140</c:v>
                  </c:pt>
                  <c:pt idx="14">
                    <c:v>150</c:v>
                  </c:pt>
                  <c:pt idx="15">
                    <c:v>160</c:v>
                  </c:pt>
                  <c:pt idx="16">
                    <c:v>170</c:v>
                  </c:pt>
                  <c:pt idx="17">
                    <c:v>180</c:v>
                  </c:pt>
                  <c:pt idx="18">
                    <c:v>190</c:v>
                  </c:pt>
                  <c:pt idx="19">
                    <c:v>200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13.5</c:v>
                </c:pt>
                <c:pt idx="1">
                  <c:v>12.9</c:v>
                </c:pt>
                <c:pt idx="2">
                  <c:v>12.6</c:v>
                </c:pt>
                <c:pt idx="3">
                  <c:v>12.5</c:v>
                </c:pt>
                <c:pt idx="4">
                  <c:v>12.7</c:v>
                </c:pt>
                <c:pt idx="5">
                  <c:v>13.1</c:v>
                </c:pt>
                <c:pt idx="6">
                  <c:v>14.2</c:v>
                </c:pt>
                <c:pt idx="7">
                  <c:v>15.3</c:v>
                </c:pt>
                <c:pt idx="8">
                  <c:v>16.1</c:v>
                </c:pt>
                <c:pt idx="9">
                  <c:v>16.8</c:v>
                </c:pt>
                <c:pt idx="10">
                  <c:v>17.2</c:v>
                </c:pt>
                <c:pt idx="11">
                  <c:v>17</c:v>
                </c:pt>
                <c:pt idx="12">
                  <c:v>16.5</c:v>
                </c:pt>
                <c:pt idx="13">
                  <c:v>15.8</c:v>
                </c:pt>
                <c:pt idx="14">
                  <c:v>15.2</c:v>
                </c:pt>
                <c:pt idx="15">
                  <c:v>14.7</c:v>
                </c:pt>
                <c:pt idx="16">
                  <c:v>14.2</c:v>
                </c:pt>
                <c:pt idx="17">
                  <c:v>13.9</c:v>
                </c:pt>
                <c:pt idx="18">
                  <c:v>13.5</c:v>
                </c:pt>
                <c:pt idx="19">
                  <c:v>13.2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Consumption</c:v>
                </c:pt>
              </c:strCache>
            </c:strRef>
          </c:tx>
          <c:spPr>
            <a:solidFill>
              <a:srgbClr val="00C8FF"/>
            </a:solidFill>
            <a:ln w="25400" cap="flat">
              <a:solidFill>
                <a:srgbClr val="00C8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8FF"/>
              </a:solidFill>
              <a:ln w="9525" cap="flat">
                <a:solidFill>
                  <a:srgbClr val="00C8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  <c:pt idx="7">
                    <c:v>80</c:v>
                  </c:pt>
                  <c:pt idx="8">
                    <c:v>90</c:v>
                  </c:pt>
                  <c:pt idx="9">
                    <c:v>100</c:v>
                  </c:pt>
                  <c:pt idx="10">
                    <c:v>110</c:v>
                  </c:pt>
                  <c:pt idx="11">
                    <c:v>120</c:v>
                  </c:pt>
                  <c:pt idx="12">
                    <c:v>130</c:v>
                  </c:pt>
                  <c:pt idx="13">
                    <c:v>140</c:v>
                  </c:pt>
                  <c:pt idx="14">
                    <c:v>150</c:v>
                  </c:pt>
                  <c:pt idx="15">
                    <c:v>160</c:v>
                  </c:pt>
                  <c:pt idx="16">
                    <c:v>170</c:v>
                  </c:pt>
                  <c:pt idx="17">
                    <c:v>180</c:v>
                  </c:pt>
                  <c:pt idx="18">
                    <c:v>190</c:v>
                  </c:pt>
                  <c:pt idx="19">
                    <c:v>200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13.2</c:v>
                </c:pt>
                <c:pt idx="1">
                  <c:v>12.7</c:v>
                </c:pt>
                <c:pt idx="2">
                  <c:v>12.5</c:v>
                </c:pt>
                <c:pt idx="3">
                  <c:v>12.6</c:v>
                </c:pt>
                <c:pt idx="4">
                  <c:v>12.8</c:v>
                </c:pt>
                <c:pt idx="5">
                  <c:v>13.3</c:v>
                </c:pt>
                <c:pt idx="6">
                  <c:v>14.4</c:v>
                </c:pt>
                <c:pt idx="7">
                  <c:v>15.1</c:v>
                </c:pt>
                <c:pt idx="8">
                  <c:v>16</c:v>
                </c:pt>
                <c:pt idx="9">
                  <c:v>16.9</c:v>
                </c:pt>
                <c:pt idx="10">
                  <c:v>17.1</c:v>
                </c:pt>
                <c:pt idx="11">
                  <c:v>16.8</c:v>
                </c:pt>
                <c:pt idx="12">
                  <c:v>16.3</c:v>
                </c:pt>
                <c:pt idx="13">
                  <c:v>15.7</c:v>
                </c:pt>
                <c:pt idx="14">
                  <c:v>15.1</c:v>
                </c:pt>
                <c:pt idx="15">
                  <c:v>14.6</c:v>
                </c:pt>
                <c:pt idx="16">
                  <c:v>14.1</c:v>
                </c:pt>
                <c:pt idx="17">
                  <c:v>13.8</c:v>
                </c:pt>
                <c:pt idx="18">
                  <c:v>13.4</c:v>
                </c:pt>
                <c:pt idx="19">
                  <c:v>13.1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0116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14032" y="20116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70064" y="20116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6096" y="20116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82128" y="20116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20116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94192" y="20116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50224" y="20116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80160"/>
            <a:ext cx="23774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DEEP LEARNING PROJECT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Consumption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Using LSTM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41148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66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future power usage with LSTM neural networks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smarter energy management and reduced wastage.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256032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262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AEP Dataset: </a:t>
            </a:r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121K+ Samples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4526280"/>
            <a:ext cx="256032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5262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Model: </a:t>
            </a:r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LSTM + Dense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4526280"/>
            <a:ext cx="256032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5262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Framework: </a:t>
            </a:r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TensorFlow / Keras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FF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this project?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This project uses LSTM (Long Short-Term Memory) neural networks to forecast future electricity consumption based on historical hourly power usage data from the AEP (American Electric Power) grid.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286000"/>
            <a:ext cx="2743200" cy="2423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Reduce Energy Wastage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Accurate forecasting enables utilities to optimize generation and cut waste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286000"/>
            <a:ext cx="2743200" cy="2423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4612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Smart Energy Management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337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AI-driven insights power intelligent grid management systems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286000"/>
            <a:ext cx="2743200" cy="2423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7220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Time-Series Forecasting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337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Apply deep learning to sequential temporal data patterns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FF"/>
                </a:solidFill>
              </a:rPr>
              <a:t>TECH STACK &amp;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Libraries Used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548640"/>
          </a:xfrm>
          <a:prstGeom prst="rect">
            <a:avLst/>
          </a:prstGeom>
          <a:solidFill>
            <a:srgbClr val="11224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201168" cy="20116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25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pandas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—  Data loading &amp; manipulation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3931920" cy="548640"/>
          </a:xfrm>
          <a:prstGeom prst="rect">
            <a:avLst/>
          </a:prstGeom>
          <a:solidFill>
            <a:srgbClr val="11224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21408"/>
            <a:ext cx="201168" cy="20116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842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numpy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—  Array &amp; matrix operations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42616"/>
            <a:ext cx="3931920" cy="548640"/>
          </a:xfrm>
          <a:prstGeom prst="rect">
            <a:avLst/>
          </a:prstGeom>
          <a:solidFill>
            <a:srgbClr val="11224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79776"/>
            <a:ext cx="201168" cy="20116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4261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matplotlib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—  Visualization of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00984"/>
            <a:ext cx="3931920" cy="548640"/>
          </a:xfrm>
          <a:prstGeom prst="rect">
            <a:avLst/>
          </a:prstGeom>
          <a:solidFill>
            <a:srgbClr val="11224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38144"/>
            <a:ext cx="201168" cy="20116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0098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scikit-learn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—  MinMaxScaler, train_test_split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3931920" cy="548640"/>
          </a:xfrm>
          <a:prstGeom prst="rect">
            <a:avLst/>
          </a:prstGeom>
          <a:solidFill>
            <a:srgbClr val="112240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096512"/>
            <a:ext cx="201168" cy="20116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593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TensorFlow / Keras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—  LSTM model building &amp; training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Dataset Info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4023360" cy="3291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463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Source: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14630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AEP Hourly Dataset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9385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Columns: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193852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Datetime, AEP_MW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4140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Total Samples: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4140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121,273 rows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8895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Time Range: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288950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2004 – 2018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3649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Frequency: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36499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Hourly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840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Target Variable: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840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Power Usage (MW)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FF"/>
                </a:solidFill>
              </a:rPr>
              <a:t>PROJECT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End-to-End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90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801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Read AEP hourly 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with Datetime &amp; AEP_MW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029968"/>
            <a:ext cx="16459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14173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490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50592" y="1801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EDA &amp; Visualize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Plot first 500 samples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 understand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62272" y="2029968"/>
            <a:ext cx="16459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4173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490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26864" y="1801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Normalize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26864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MinMaxScaler scales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values to [0, 1] range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38544" y="2029968"/>
            <a:ext cx="16459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14173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490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03136" y="1801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 Sequences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3136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24 prev values → 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Next value → output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90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74320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 / Test Split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3749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80% train (96,999)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20% test (24,250)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0" y="3630168"/>
            <a:ext cx="16459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50592" y="30175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50592" y="3090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450592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LSTM Model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50592" y="3749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LSTM(50) + Dense(1)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Adam optimizer, MSE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62272" y="3630168"/>
            <a:ext cx="16459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6864" y="30175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6864" y="3090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07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626864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 Model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26864" y="3749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Fit on training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 epochs, batch=64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38544" y="3630168"/>
            <a:ext cx="16459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03136" y="30175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03136" y="3090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08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03136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 &amp; Visualize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03136" y="3749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Compare Actual vs.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Predicted consumption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FF"/>
                </a:solidFill>
              </a:rPr>
              <a:t>MODEL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LSTM Neural Network Design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200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Input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(None, 24, 1)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984248"/>
            <a:ext cx="73152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200400" cy="65836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LSTM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(None, 50)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2852928"/>
            <a:ext cx="73152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3200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Dense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(None, 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3721608"/>
            <a:ext cx="73152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31920"/>
            <a:ext cx="3200400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31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Predicted MW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1325880"/>
            <a:ext cx="4389120" cy="3474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417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</a:rPr>
              <a:t>Model Summary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34840" y="1874520"/>
            <a:ext cx="42976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8745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1874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Sequential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2231136"/>
            <a:ext cx="429768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2311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LSTM Units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22311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50 (ReLU)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587752"/>
            <a:ext cx="42976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25877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Output Units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2587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1 (Dense)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34840" y="2944368"/>
            <a:ext cx="429768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29443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Total Params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29443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10,451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34840" y="3300984"/>
            <a:ext cx="42976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3009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Trainable Params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33009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10,451 (40.82 KB)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34840" y="3657600"/>
            <a:ext cx="429768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36576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Optimizer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3657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Adam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4014216"/>
            <a:ext cx="42976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40142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Loss Function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40142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MSE (Mean Squared Error)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34840" y="4370832"/>
            <a:ext cx="429768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43708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Time Step / Window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20840" y="43708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24 hours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FF"/>
                </a:solidFill>
              </a:rPr>
              <a:t>TRAINING &amp;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Training Configuration &amp; Output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</a:rPr>
              <a:t>10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Epochs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4173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</a:rPr>
              <a:t>64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Batch Size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</a:rPr>
              <a:t>96,999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Train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4173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</a:rPr>
              <a:t>24,250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6656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Test Set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850392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60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4FF"/>
                </a:solidFill>
              </a:rPr>
              <a:t>📊  Prediction Output: Actual vs Predicted electricity consumption plotted over 200 test samples. The model closely tracks real-world power usage trends (measured in MW).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20040" y="3337560"/>
          <a:ext cx="850392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FF"/>
                </a:solidFill>
              </a:rPr>
              <a:t>KEY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Concepts Applied in This Project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1481328"/>
          </a:xfrm>
          <a:prstGeom prst="rect">
            <a:avLst/>
          </a:prstGeom>
          <a:solidFill>
            <a:srgbClr val="1122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91440" cy="14813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087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RNN (Recurrent Neural Network)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892808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Foundation of sequential modeling. Processes data in order but suffers from vanishing gradient for long sequences.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743200" cy="1481328"/>
          </a:xfrm>
          <a:prstGeom prst="rect">
            <a:avLst/>
          </a:prstGeom>
          <a:solidFill>
            <a:srgbClr val="112240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417320"/>
            <a:ext cx="91440" cy="14813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5087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</a:rPr>
              <a:t>LSTM (Long Short-Term Memory)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892808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Advanced RNN variant with forget, input, and output gates that retain long-range temporal dependencies effectively.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743200" cy="1481328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417320"/>
            <a:ext cx="91440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5087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MinMax Normalization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9632" y="1892808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Scales all AEP_MW values to the [0, 1] range, enabling stable and faster gradient-based model training.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743200" cy="1481328"/>
          </a:xfrm>
          <a:prstGeom prst="rect">
            <a:avLst/>
          </a:prstGeom>
          <a:solidFill>
            <a:srgbClr val="112240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63240"/>
            <a:ext cx="91440" cy="14813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546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Sequence Creation (Sliding Window)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538728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Uses 24 previous hourly readings as input features to predict the next hour's consumption value.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3063240"/>
            <a:ext cx="2743200" cy="1481328"/>
          </a:xfrm>
          <a:prstGeom prst="rect">
            <a:avLst/>
          </a:prstGeom>
          <a:solidFill>
            <a:srgbClr val="11224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3063240"/>
            <a:ext cx="91440" cy="14813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31546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Time-Series Forecasting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3538728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Models temporal patterns in sequential data where each value depends on its historical context.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3063240"/>
            <a:ext cx="2743200" cy="1481328"/>
          </a:xfrm>
          <a:prstGeom prst="rect">
            <a:avLst/>
          </a:prstGeom>
          <a:solidFill>
            <a:srgbClr val="112240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3063240"/>
            <a:ext cx="91440" cy="14813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31546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</a:rPr>
              <a:t>Inverse Transform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9632" y="3538728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After prediction, scale results back from [0,1] to original MW range for interpretable real-world values.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5331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We Achieved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841248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2763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4FF"/>
                </a:solidFill>
              </a:rPr>
              <a:t>Loaded and explored real hourly electricity consumption data from the AEP 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841248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4FF"/>
                </a:solidFill>
              </a:rPr>
              <a:t>Applied MinMax normalization and sliding window (24 steps) sequence creation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841248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6148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76148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4FF"/>
                </a:solidFill>
              </a:rPr>
              <a:t>Built a compact LSTM model with just 10,451 parameters using TensorFlow/Keras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841248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2841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32841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4FF"/>
                </a:solidFill>
              </a:rPr>
              <a:t>Trained on 96,999 samples and validated against 24,250 test samples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841248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9534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895344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4FF"/>
                </a:solidFill>
              </a:rPr>
              <a:t>Visualized predicted vs actual consumption, demonstrating strong forecast alignment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This project demonstrates how Deep Learning can be used for smart energy forecasting and efficient energy management.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Consumption Forecasting Using LSTM</dc:title>
  <dc:subject>PptxGenJS Presentation</dc:subject>
  <dc:creator>PptxGenJS</dc:creator>
  <cp:lastModifiedBy>PptxGenJS</cp:lastModifiedBy>
  <cp:revision>1</cp:revision>
  <dcterms:created xsi:type="dcterms:W3CDTF">2026-05-24T13:56:55Z</dcterms:created>
  <dcterms:modified xsi:type="dcterms:W3CDTF">2026-05-24T13:56:55Z</dcterms:modified>
</cp:coreProperties>
</file>